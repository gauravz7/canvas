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60A5FA"/>
                </a:solidFill>
                <a:latin typeface="Calibri"/>
              </a:defRPr>
            </a:pPr>
            <a:r>
              <a:t>Canvas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FFFFF"/>
                </a:solidFill>
                <a:latin typeface="Calibri"/>
              </a:defRPr>
            </a:pPr>
            <a:r>
              <a:t>Multimodal AI Orchestrator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CA3AF"/>
                </a:solidFill>
                <a:latin typeface="Calibri"/>
              </a:defRPr>
            </a:pPr>
            <a:r>
              <a:t>Build visual AI workflows connecting text, image, audio, and video generation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084FC"/>
                </a:solidFill>
                <a:latin typeface="Calibri"/>
              </a:defRPr>
            </a:pPr>
            <a:r>
              <a:t>Powered by Google Gemini  |  Veo  |  Lyria  |  Cloud TTS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60A5FA"/>
                </a:solidFill>
                <a:latin typeface="Calibri"/>
              </a:defRPr>
            </a:pPr>
            <a:r>
              <a:t>What is Canvas?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CA3AF"/>
                </a:solidFill>
                <a:latin typeface="Calibri"/>
              </a:defRPr>
            </a:pPr>
            <a:r>
              <a:t>A visual node-based workflow engine that chains multiple AI models together to create complex media generation pipelines — without writing code.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Visual workflow builder — drag, drop, connect AI nodes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Multi-model orchestration — chain Gemini, Veo, Lyria, TTS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Real-time execution — results stream node-by-node via SSE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Team collaboration — share workflows with teams or publicly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Asset management — every generated asset saved with prompts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Multiple workflow tabs — work on several projects at once</a:t>
            </a:r>
          </a:p>
        </p:txBody>
      </p:sp>
      <p:pic>
        <p:nvPicPr>
          <p:cNvPr id="5" name="Picture 4" descr="01-main-canv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097280"/>
            <a:ext cx="5303520" cy="340940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60A5FA"/>
                </a:solidFill>
                <a:latin typeface="Calibri"/>
              </a:defRPr>
            </a:pPr>
            <a:r>
              <a:t>Node Types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188720"/>
          <a:ext cx="105156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41148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1F1F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Nodes</a:t>
                      </a:r>
                    </a:p>
                  </a:txBody>
                  <a:tcPr>
                    <a:solidFill>
                      <a:srgbClr val="1F1F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1F1F3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Inputs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Text, Image, Video, Audio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Upload or type content to feed into pipelines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Gemini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Gemini Text, Gemini Image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Generate text or images from multimodal prompts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Voice &amp; Music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Speech Gen, Lyria Clip, Lyria Pro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TTS (23 langs, 7 voices) and AI music generation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Video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Veo Standard, Extend, Reference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Generate, extend, or style-match videos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Upscale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Image Upscaler, Video Upscaler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Enhance resolution up to 4K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Editor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Video Editor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Combine videos, audio, backgrounds with ffmpeg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Outputs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Text, Image, Audio, Video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Display and download results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</a:tr>
            </a:tbl>
          </a:graphicData>
        </a:graphic>
      </p:graphicFrame>
      <p:pic>
        <p:nvPicPr>
          <p:cNvPr id="4" name="Picture 3" descr="02-toolbar-nod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1188720"/>
            <a:ext cx="3017520" cy="424083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60A5FA"/>
                </a:solidFill>
                <a:latin typeface="Calibri"/>
              </a:defRPr>
            </a:pPr>
            <a:r>
              <a:t>How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  <a:latin typeface="Calibri"/>
              </a:defRPr>
            </a:pPr>
            <a:r>
              <a:t>1. Build — Drag nodes onto canvas, connect with edges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  <a:latin typeface="Calibri"/>
              </a:defRPr>
            </a:pPr>
            <a:r>
              <a:t>2. Configure — Set model, voice, language, aspect ratio per node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  <a:latin typeface="Calibri"/>
              </a:defRPr>
            </a:pPr>
            <a:r>
              <a:t>3. Run — Click Run, nodes execute in topological order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  <a:latin typeface="Calibri"/>
              </a:defRPr>
            </a:pPr>
            <a:r>
              <a:t>4. Stream — Results appear in real-time via Server-Sent Events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  <a:latin typeface="Calibri"/>
              </a:defRPr>
            </a:pPr>
            <a:r>
              <a:t>5. Save — Generated media auto-saved to Asset Library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5720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BBF24"/>
                </a:solidFill>
                <a:latin typeface="Calibri"/>
              </a:defRPr>
            </a:pPr>
            <a:r>
              <a:t>Smart Error Handling: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9CA3AF"/>
                </a:solidFill>
                <a:latin typeface="Calibri"/>
              </a:defRPr>
            </a:pPr>
            <a:r>
              <a:t>Failed nodes show red status badge</a:t>
            </a:r>
          </a:p>
          <a:p>
            <a:pPr>
              <a:spcAft>
                <a:spcPts val="800"/>
              </a:spcAft>
              <a:defRPr sz="1400">
                <a:solidFill>
                  <a:srgbClr val="9CA3AF"/>
                </a:solidFill>
                <a:latin typeface="Calibri"/>
              </a:defRPr>
            </a:pPr>
            <a:r>
              <a:t>Downstream nodes automatically skipped</a:t>
            </a:r>
          </a:p>
          <a:p>
            <a:pPr>
              <a:spcAft>
                <a:spcPts val="800"/>
              </a:spcAft>
              <a:defRPr sz="1400">
                <a:solidFill>
                  <a:srgbClr val="9CA3AF"/>
                </a:solidFill>
                <a:latin typeface="Calibri"/>
              </a:defRPr>
            </a:pPr>
            <a:r>
              <a:t>Clear error messages at point of failure</a:t>
            </a:r>
          </a:p>
        </p:txBody>
      </p:sp>
      <p:pic>
        <p:nvPicPr>
          <p:cNvPr id="6" name="Picture 5" descr="06-canvas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188720"/>
            <a:ext cx="5303520" cy="340940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60A5FA"/>
                </a:solidFill>
                <a:latin typeface="Calibri"/>
              </a:defRPr>
            </a:pPr>
            <a:r>
              <a:t>Workflow Tabs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  <a:latin typeface="Calibri"/>
              </a:defRPr>
            </a:pPr>
            <a:r>
              <a:t>"+ New" — Create a new blank workflow tab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  <a:latin typeface="Calibri"/>
              </a:defRPr>
            </a:pPr>
            <a:r>
              <a:t>Click tabs — Switch between workflows instantly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  <a:latin typeface="Calibri"/>
              </a:defRPr>
            </a:pPr>
            <a:r>
              <a:t>Double-click — Rename a tab inline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  <a:latin typeface="Calibri"/>
              </a:defRPr>
            </a:pPr>
            <a:r>
              <a:t>"x" — Close a tab (can't close the last one)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  <a:latin typeface="Calibri"/>
              </a:defRPr>
            </a:pPr>
            <a:r>
              <a:t>State preserved — Switching views doesn't lose work</a:t>
            </a:r>
          </a:p>
        </p:txBody>
      </p:sp>
      <p:pic>
        <p:nvPicPr>
          <p:cNvPr id="4" name="Picture 3" descr="03-workflow-tab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188720"/>
            <a:ext cx="5303520" cy="340940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60A5FA"/>
                </a:solidFill>
                <a:latin typeface="Calibri"/>
              </a:defRPr>
            </a:pPr>
            <a:r>
              <a:t>Team Collaboration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4ADE80"/>
                </a:solidFill>
                <a:latin typeface="Calibri"/>
              </a:defRPr>
            </a:pPr>
            <a:r>
              <a:t>Create &amp; Join Teams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Click "+" next to Teams in sidebar → name your team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Auto-generated join code — share with teammates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Teammates enter code to join instantly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4ADE80"/>
                </a:solidFill>
                <a:latin typeface="Calibri"/>
              </a:defRPr>
            </a:pPr>
            <a:r>
              <a:t>Workflow Visibility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3840480"/>
          <a:ext cx="50292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2514600"/>
              </a:tblGrid>
              <a:tr h="41148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Level</a:t>
                      </a:r>
                    </a:p>
                  </a:txBody>
                  <a:tcPr>
                    <a:solidFill>
                      <a:srgbClr val="1F1F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Who sees it</a:t>
                      </a:r>
                    </a:p>
                  </a:txBody>
                  <a:tcPr>
                    <a:solidFill>
                      <a:srgbClr val="1F1F3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Private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Only you (default)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Team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All members of selected team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Public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Everyone on the platform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60A5FA"/>
                </a:solidFill>
                <a:latin typeface="Calibri"/>
              </a:defRPr>
            </a:pPr>
            <a:r>
              <a:t>Saved Canvas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  <a:latin typeface="Calibri"/>
              </a:defRPr>
            </a:pPr>
            <a:r>
              <a:t>Mine — Your private and shared workflows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  <a:latin typeface="Calibri"/>
              </a:defRPr>
            </a:pPr>
            <a:r>
              <a:t>Team — Workflows shared by teammates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  <a:latin typeface="Calibri"/>
              </a:defRPr>
            </a:pPr>
            <a:r>
              <a:t>Public — Community workflows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9260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BBF24"/>
                </a:solidFill>
                <a:latin typeface="Calibri"/>
              </a:defRPr>
            </a:pPr>
            <a:r>
              <a:t>Built-in Templates: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CA3AF"/>
                </a:solidFill>
                <a:latin typeface="Calibri"/>
              </a:defRPr>
            </a:pPr>
            <a:r>
              <a:t>Product Ad Workflow</a:t>
            </a:r>
          </a:p>
          <a:p>
            <a:pPr>
              <a:spcAft>
                <a:spcPts val="800"/>
              </a:spcAft>
              <a:defRPr sz="1500">
                <a:solidFill>
                  <a:srgbClr val="9CA3AF"/>
                </a:solidFill>
                <a:latin typeface="Calibri"/>
              </a:defRPr>
            </a:pPr>
            <a:r>
              <a:t>Influencer Video</a:t>
            </a:r>
          </a:p>
          <a:p>
            <a:pPr>
              <a:spcAft>
                <a:spcPts val="800"/>
              </a:spcAft>
              <a:defRPr sz="1500">
                <a:solidFill>
                  <a:srgbClr val="9CA3AF"/>
                </a:solidFill>
                <a:latin typeface="Calibri"/>
              </a:defRPr>
            </a:pPr>
            <a:r>
              <a:t>Fashion Virtual Tryon</a:t>
            </a:r>
          </a:p>
          <a:p>
            <a:pPr>
              <a:spcAft>
                <a:spcPts val="800"/>
              </a:spcAft>
              <a:defRPr sz="1500">
                <a:solidFill>
                  <a:srgbClr val="9CA3AF"/>
                </a:solidFill>
                <a:latin typeface="Calibri"/>
              </a:defRPr>
            </a:pPr>
            <a:r>
              <a:t>Look Book Creation</a:t>
            </a:r>
          </a:p>
        </p:txBody>
      </p:sp>
      <p:pic>
        <p:nvPicPr>
          <p:cNvPr id="6" name="Picture 5" descr="04-saved-canv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188720"/>
            <a:ext cx="5303520" cy="340940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60A5FA"/>
                </a:solidFill>
                <a:latin typeface="Calibri"/>
              </a:defRPr>
            </a:pPr>
            <a:r>
              <a:t>Asset Library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CA3AF"/>
                </a:solidFill>
                <a:latin typeface="Calibri"/>
              </a:defRPr>
            </a:pPr>
            <a:r>
              <a:t>Every generated asset auto-saved with full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Filter by type: Images / Videos / Audio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Search by prompt text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Grid or list view toggle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Download any asset directly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Expandable prompt display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Model badge + relative timestamps</a:t>
            </a:r>
          </a:p>
        </p:txBody>
      </p:sp>
      <p:pic>
        <p:nvPicPr>
          <p:cNvPr id="5" name="Picture 4" descr="05-asset-libr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188720"/>
            <a:ext cx="5303520" cy="340940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60A5FA"/>
                </a:solidFill>
                <a:latin typeface="Calibri"/>
              </a:defRPr>
            </a:pPr>
            <a:r>
              <a:t>Supported AI Models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188720"/>
          <a:ext cx="1051560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41148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Capability</a:t>
                      </a:r>
                    </a:p>
                  </a:txBody>
                  <a:tcPr>
                    <a:solidFill>
                      <a:srgbClr val="1F1F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Models</a:t>
                      </a:r>
                    </a:p>
                  </a:txBody>
                  <a:tcPr>
                    <a:solidFill>
                      <a:srgbClr val="1F1F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Default</a:t>
                      </a:r>
                    </a:p>
                  </a:txBody>
                  <a:tcPr>
                    <a:solidFill>
                      <a:srgbClr val="1F1F3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Text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gemini-3.1-pro-preview, gemini-3.1-flash-lite-preview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flash-lite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Image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gemini-3.1-flash-image-preview, gemini-2.5-flash-image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flash-image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Video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veo-3.1-generate-001, fast-generate-001, lite-generate-001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lite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Music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lyria-3-pro-preview (full songs), lyria-3-clip-preview (30s)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clip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TTS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gemini-3.1-flash-tts-preview (23 languages, 7 voices)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flash-tts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Upscale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imagen-4.0-upscale-preview, veo-3.1-generate-001 (4K video)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CA3AF"/>
                </a:solidFill>
                <a:latin typeface="Calibri"/>
              </a:defRPr>
            </a:pPr>
            <a:r>
              <a:t>All defaults set to lite/flash variants for speed and cost efficiency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60A5FA"/>
                </a:solidFill>
                <a:latin typeface="Calibri"/>
              </a:defRPr>
            </a:pPr>
            <a:r>
              <a:t>Text-to-Speech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4ADE80"/>
                </a:solidFill>
                <a:latin typeface="Calibri"/>
              </a:defRPr>
            </a:pPr>
            <a:r>
              <a:t>23 Languages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  <a:latin typeface="Calibri"/>
              </a:defRPr>
            </a:pPr>
            <a:r>
              <a:t>English, Spanish, French, German, Italian, Portuguese, Japanese, Korean, Chinese, Hindi, Arabic, Russian, Turkish, Thai, Indonesian, Vietnamese, and more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0175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4ADE80"/>
                </a:solidFill>
                <a:latin typeface="Calibri"/>
              </a:defRPr>
            </a:pPr>
            <a:r>
              <a:t>7 Voices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566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Calibri"/>
              </a:defRPr>
            </a:pPr>
            <a:r>
              <a:t>Kore, Leda, Puck, Charon, Fenrir, Aoede, Enceladus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1148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4ADE80"/>
                </a:solidFill>
                <a:latin typeface="Calibri"/>
              </a:defRPr>
            </a:pPr>
            <a:r>
              <a:t>System Instructions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66344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9CA3AF"/>
                </a:solidFill>
                <a:latin typeface="Calibri"/>
              </a:defRPr>
            </a:pPr>
            <a:r>
              <a:t>"Speak cheerfully and with enthusiasm"</a:t>
            </a:r>
          </a:p>
          <a:p>
            <a:pPr>
              <a:spcAft>
                <a:spcPts val="800"/>
              </a:spcAft>
              <a:defRPr sz="1400">
                <a:solidFill>
                  <a:srgbClr val="9CA3AF"/>
                </a:solidFill>
                <a:latin typeface="Calibri"/>
              </a:defRPr>
            </a:pPr>
            <a:r>
              <a:t>"Use a calm, professional news anchor tone"</a:t>
            </a:r>
          </a:p>
          <a:p>
            <a:pPr>
              <a:spcAft>
                <a:spcPts val="800"/>
              </a:spcAft>
              <a:defRPr sz="1400">
                <a:solidFill>
                  <a:srgbClr val="9CA3AF"/>
                </a:solidFill>
                <a:latin typeface="Calibri"/>
              </a:defRPr>
            </a:pPr>
            <a:r>
              <a:t>"Whisper softly as if telling a secret"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60A5FA"/>
                </a:solidFill>
                <a:latin typeface="Calibri"/>
              </a:defRPr>
            </a:pPr>
            <a:r>
              <a:t>Security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188720"/>
          <a:ext cx="10515600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57800"/>
                <a:gridCol w="5257800"/>
              </a:tblGrid>
              <a:tr h="41148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Feature</a:t>
                      </a:r>
                    </a:p>
                  </a:txBody>
                  <a:tcPr>
                    <a:solidFill>
                      <a:srgbClr val="1F1F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Implementation</a:t>
                      </a:r>
                    </a:p>
                  </a:txBody>
                  <a:tcPr>
                    <a:solidFill>
                      <a:srgbClr val="1F1F3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Authentication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Firebase Google Sign-In with JWT tokens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Authorization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Per-route auth deps, team-based access control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Path Traversal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realpath validation on all file-serving endpoints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XSS Prevention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React state rendering (no innerHTML)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CORS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Configurable origins, no wildcard with credentials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Media Serving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Dedicated /api/media endpoint with sanitized paths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Cache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LRU with 100-entry limit and 30-minute TTL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Error Propagation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Failed nodes skip downstream automatically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60A5FA"/>
                </a:solidFill>
                <a:latin typeface="Calibri"/>
              </a:defRPr>
            </a:pPr>
            <a: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ADE80"/>
                </a:solidFill>
                <a:latin typeface="Calibri"/>
              </a:defRPr>
            </a:pPr>
            <a:r>
              <a:t>Frontend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React 18 + Vite + ReactFlow + Firebase Auth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ADE80"/>
                </a:solidFill>
                <a:latin typeface="Calibri"/>
              </a:defRPr>
            </a:pPr>
            <a:r>
              <a:t>Backend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432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FastAPI + SQLAlchemy + SQLite + SSE Streaming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3832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ADE80"/>
                </a:solidFill>
                <a:latin typeface="Calibri"/>
              </a:defRPr>
            </a:pPr>
            <a:r>
              <a:t>AI Services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8404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Vertex AI (Gemini, Veo, Lyria, Imagen, TTS)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4805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ADE80"/>
                </a:solidFill>
                <a:latin typeface="Calibri"/>
              </a:defRPr>
            </a:pPr>
            <a:r>
              <a:t>Infrastructure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9377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Google Cloud Run + GCS + Firebase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18872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  <a:latin typeface="Calibri"/>
              </a:defRPr>
            </a:pPr>
            <a:r>
              <a:t>Frontend (React/Vite)</a:t>
            </a:r>
            <a:br/>
            <a:r>
              <a:t>    ↓ SSE / REST</a:t>
            </a:r>
            <a:br/>
            <a:r>
              <a:t>Backend (FastAPI)</a:t>
            </a:r>
            <a:br/>
            <a:r>
              <a:t>    ↓ Workflow Engine</a:t>
            </a:r>
            <a:br/>
            <a:r>
              <a:t>    ├── Gemini 3.1 (Text/Image)</a:t>
            </a:r>
            <a:br/>
            <a:r>
              <a:t>    ├── Veo 3.1 (Video)</a:t>
            </a:r>
            <a:br/>
            <a:r>
              <a:t>    ├── Lyria 3 (Music)</a:t>
            </a:r>
            <a:br/>
            <a:r>
              <a:t>    ├── TTS 3.1 (Speech)</a:t>
            </a:r>
            <a:br/>
            <a:r>
              <a:t>    └── Imagen 4.0 (Upscale)</a:t>
            </a:r>
            <a:br/>
            <a:r>
              <a:t>    ↓</a:t>
            </a:r>
            <a:br/>
            <a:r>
              <a:t>GCS Storage → Asset Library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60A5FA"/>
                </a:solidFill>
                <a:latin typeface="Calibri"/>
              </a:defRPr>
            </a:pPr>
            <a:r>
              <a:t>Example: Product Ad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[Text Input: "Luxury watch"]</a:t>
            </a:r>
            <a:br/>
            <a:r>
              <a:t>    → [Gemini Image: Generate product photo]</a:t>
            </a:r>
            <a:br/>
            <a:r>
              <a:t>        → [Image Upscaler: 4K enhancement]</a:t>
            </a:r>
            <a:br/>
            <a:r>
              <a:t>            → [Output: High-res image]</a:t>
            </a:r>
            <a:br/>
            <a:br/>
            <a:r>
              <a:t>    → [Gemini Text: Write ad copy]</a:t>
            </a:r>
            <a:br/>
            <a:r>
              <a:t>        → [Speech Gen: Narrate in French]</a:t>
            </a:r>
            <a:br/>
            <a:r>
              <a:t>            → [Output: Audio narration]</a:t>
            </a:r>
            <a:br/>
            <a:br/>
            <a:r>
              <a:t>    → [Veo Standard: Generate video ad]</a:t>
            </a:r>
            <a:br/>
            <a:r>
              <a:t>        → [Video Upscaler: 4K]</a:t>
            </a:r>
            <a:br/>
            <a:r>
              <a:t>            → [Output: Video ad]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3035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BBF24"/>
                </a:solidFill>
                <a:latin typeface="Calibri"/>
              </a:defRPr>
            </a:pPr>
            <a:r>
              <a:t>Three parallel pipelines from a single text input — image, audio, and video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60A5FA"/>
                </a:solidFill>
                <a:latin typeface="Calibri"/>
              </a:defRPr>
            </a:pPr>
            <a:r>
              <a:t>Deployment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Single command deploy to Cloud Run: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DE80"/>
                </a:solidFill>
                <a:latin typeface="Calibri"/>
              </a:defRPr>
            </a:pPr>
            <a:r>
              <a:t>export GOOGLE_CLOUD_PROJECT=your-project &amp;&amp; ./deploy.sh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BBF24"/>
                </a:solidFill>
                <a:latin typeface="Calibri"/>
              </a:defRPr>
            </a:pPr>
            <a:r>
              <a:t>Requirements: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9184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GCP project with Vertex AI enabled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Firebase project with Google auth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~2GB memory, 1 CPU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BBF24"/>
                </a:solidFill>
                <a:latin typeface="Calibri"/>
              </a:defRPr>
            </a:pPr>
            <a:r>
              <a:t>Environment Variables: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0" y="1828800"/>
          <a:ext cx="502920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2514600"/>
              </a:tblGrid>
              <a:tr h="41148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Variable</a:t>
                      </a:r>
                    </a:p>
                  </a:txBody>
                  <a:tcPr>
                    <a:solidFill>
                      <a:srgbClr val="1F1F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Purpose</a:t>
                      </a:r>
                    </a:p>
                  </a:txBody>
                  <a:tcPr>
                    <a:solidFill>
                      <a:srgbClr val="1F1F3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GOOGLE_CLOUD_PROJECT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GCP project ID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FIREBASE_PROJECT_ID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Firebase project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CORS_ORIGINS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Allowed frontend origins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VEO_BUCKET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GCS bucket for video storage</a:t>
                      </a:r>
                    </a:p>
                  </a:txBody>
                  <a:tcPr>
                    <a:solidFill>
                      <a:srgbClr val="12122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60A5FA"/>
                </a:solidFill>
                <a:latin typeface="Calibri"/>
              </a:defRPr>
            </a:pPr>
            <a:r>
              <a:t>What's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2011680"/>
            <a:ext cx="8229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Workflow versioning — Git-like history for changes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Scheduled execution — Run workflows on a timer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API endpoints — Expose workflows as REST APIs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Custom nodes — Plugin system for user-defined types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Real-time collaboration — Multiple users on same workflow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Cost tracking — Per-workflow API cost estimation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669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CA3AF"/>
                </a:solidFill>
                <a:latin typeface="Calibri"/>
              </a:defRPr>
            </a:pPr>
            <a:r>
              <a:t>Built with Gemini, Veo, Lyria, and Cloud TTS on Google Cloud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